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4"/>
  </p:notesMasterIdLst>
  <p:handoutMasterIdLst>
    <p:handoutMasterId r:id="rId25"/>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51" r:id="rId18"/>
    <p:sldId id="350" r:id="rId19"/>
    <p:sldId id="341" r:id="rId20"/>
    <p:sldId id="342" r:id="rId21"/>
    <p:sldId id="343" r:id="rId22"/>
    <p:sldId id="30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07266" y="3247571"/>
            <a:ext cx="9731051" cy="941873"/>
          </a:xfrm>
        </p:spPr>
        <p:txBody>
          <a:bodyPr vert="horz" lIns="91440" tIns="45720" rIns="91440" bIns="45720" rtlCol="0" anchor="t">
            <a:noAutofit/>
          </a:bodyPr>
          <a:lstStyle/>
          <a:p>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Name: </a:t>
            </a:r>
            <a:r>
              <a:rPr lang="en-US" dirty="0">
                <a:solidFill>
                  <a:srgbClr val="002060"/>
                </a:solidFill>
                <a:latin typeface="Calibri" panose="020F0502020204030204" pitchFamily="34" charset="0"/>
                <a:ea typeface="Calibri" panose="020F0502020204030204" pitchFamily="34" charset="0"/>
                <a:cs typeface="Calibri" panose="020F0502020204030204" pitchFamily="34" charset="0"/>
              </a:rPr>
              <a:t>Swaranjali Baburao Harkare</a:t>
            </a:r>
            <a:endParaRPr lang="en-IN"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College Name- </a:t>
            </a:r>
            <a:r>
              <a:rPr lang="en-US" dirty="0" err="1">
                <a:solidFill>
                  <a:srgbClr val="7030A0"/>
                </a:solidFill>
                <a:latin typeface="Calibri" panose="020F0502020204030204" pitchFamily="34" charset="0"/>
                <a:ea typeface="Calibri" panose="020F0502020204030204" pitchFamily="34" charset="0"/>
                <a:cs typeface="Calibri" panose="020F0502020204030204" pitchFamily="34" charset="0"/>
              </a:rPr>
              <a:t>Dr.J.J.Magdum</a:t>
            </a:r>
            <a:r>
              <a:rPr lang="en-US" dirty="0">
                <a:solidFill>
                  <a:srgbClr val="7030A0"/>
                </a:solidFill>
                <a:latin typeface="Calibri" panose="020F0502020204030204" pitchFamily="34" charset="0"/>
                <a:ea typeface="Calibri" panose="020F0502020204030204" pitchFamily="34" charset="0"/>
                <a:cs typeface="Calibri" panose="020F0502020204030204" pitchFamily="34" charset="0"/>
              </a:rPr>
              <a:t> College Of Engineering </a:t>
            </a:r>
            <a:r>
              <a:rPr lang="en-US" dirty="0" err="1">
                <a:solidFill>
                  <a:srgbClr val="7030A0"/>
                </a:solidFill>
                <a:latin typeface="Calibri" panose="020F0502020204030204" pitchFamily="34" charset="0"/>
                <a:ea typeface="Calibri" panose="020F0502020204030204" pitchFamily="34" charset="0"/>
                <a:cs typeface="Calibri" panose="020F0502020204030204" pitchFamily="34" charset="0"/>
              </a:rPr>
              <a:t>Jaysingpur</a:t>
            </a:r>
            <a:r>
              <a:rPr lang="en-US" dirty="0">
                <a:solidFill>
                  <a:srgbClr val="7030A0"/>
                </a:solidFill>
                <a:latin typeface="Calibri" panose="020F0502020204030204" pitchFamily="34" charset="0"/>
                <a:ea typeface="Calibri" panose="020F0502020204030204" pitchFamily="34" charset="0"/>
                <a:cs typeface="Calibri" panose="020F0502020204030204" pitchFamily="34" charset="0"/>
              </a:rPr>
              <a:t>.</a:t>
            </a:r>
            <a:endParaRPr lang="en-IN" dirty="0">
              <a:solidFill>
                <a:srgbClr val="7030A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07266" y="2681135"/>
            <a:ext cx="10407280" cy="470417"/>
          </a:xfrm>
        </p:spPr>
        <p:txBody>
          <a:bodyPr>
            <a:normAutofit fontScale="90000"/>
          </a:bodyPr>
          <a:lstStyle/>
          <a:p>
            <a:r>
              <a:rPr lang="en-GB" sz="2700" b="1" dirty="0">
                <a:latin typeface="Calibri" panose="020F0502020204030204" pitchFamily="34" charset="0"/>
                <a:ea typeface="Calibri" panose="020F0502020204030204" pitchFamily="34" charset="0"/>
                <a:cs typeface="Calibri" panose="020F0502020204030204" pitchFamily="34" charset="0"/>
              </a:rPr>
              <a:t>Project Title </a:t>
            </a:r>
            <a:r>
              <a:rPr lang="en-GB" sz="3200" dirty="0"/>
              <a:t>-</a:t>
            </a:r>
            <a:r>
              <a:rPr lang="en-IN" sz="3200" b="1" dirty="0">
                <a:solidFill>
                  <a:srgbClr val="FF0000"/>
                </a:solidFill>
                <a:latin typeface="Calibri" panose="020F0502020204030204" pitchFamily="34" charset="0"/>
                <a:ea typeface="Calibri" panose="020F0502020204030204" pitchFamily="34" charset="0"/>
                <a:cs typeface="Calibri" panose="020F0502020204030204" pitchFamily="34" charset="0"/>
              </a:rPr>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07266" y="4189444"/>
            <a:ext cx="6227165" cy="677108"/>
          </a:xfrm>
          <a:prstGeom prst="rect">
            <a:avLst/>
          </a:prstGeom>
          <a:noFill/>
        </p:spPr>
        <p:txBody>
          <a:bodyPr wrap="squar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AICTE STU ID :  </a:t>
            </a:r>
            <a:r>
              <a:rPr lang="en-US" sz="2000" b="1" dirty="0">
                <a:solidFill>
                  <a:srgbClr val="0070C0"/>
                </a:solidFill>
                <a:latin typeface="Calibri" panose="020F0502020204030204" pitchFamily="34" charset="0"/>
                <a:ea typeface="Calibri" panose="020F0502020204030204" pitchFamily="34" charset="0"/>
                <a:cs typeface="Calibri" panose="020F0502020204030204" pitchFamily="34" charset="0"/>
              </a:rPr>
              <a:t>STU6719efaf344861729753007</a:t>
            </a:r>
          </a:p>
          <a:p>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82156" y="2062065"/>
            <a:ext cx="8036694" cy="3862875"/>
          </a:xfrm>
        </p:spPr>
        <p:txBody>
          <a:bodyPr vert="horz" lIns="91440" tIns="45720" rIns="91440" bIns="45720" rtlCol="0" anchor="t">
            <a:normAutofit/>
          </a:bodyPr>
          <a:lstStyle/>
          <a:p>
            <a:pPr lvl="0"/>
            <a:r>
              <a:rPr lang="en-IN" sz="1800" b="1" dirty="0">
                <a:latin typeface="Calibri" panose="020F0502020204030204" pitchFamily="34" charset="0"/>
                <a:ea typeface="Calibri" panose="020F0502020204030204" pitchFamily="34" charset="0"/>
                <a:cs typeface="Calibri" panose="020F0502020204030204" pitchFamily="34" charset="0"/>
              </a:rPr>
              <a:t>Core Context:</a:t>
            </a:r>
            <a:r>
              <a:rPr lang="en-IN" sz="1800" dirty="0">
                <a:latin typeface="Calibri" panose="020F0502020204030204" pitchFamily="34" charset="0"/>
                <a:ea typeface="Calibri" panose="020F0502020204030204" pitchFamily="34" charset="0"/>
                <a:cs typeface="Calibri" panose="020F0502020204030204" pitchFamily="34" charset="0"/>
              </a:rPr>
              <a:t> Agricultural activities are highly susceptible to seasonal changes in environmental conditions, farming practices, resource availability, and marketplace trends. Consequently, crop yields and economic performance differ sharply from one macro season to another.</a:t>
            </a:r>
          </a:p>
          <a:p>
            <a:pPr lvl="0"/>
            <a:r>
              <a:rPr lang="en-IN" sz="1800" b="1" dirty="0">
                <a:latin typeface="Calibri" panose="020F0502020204030204" pitchFamily="34" charset="0"/>
                <a:ea typeface="Calibri" panose="020F0502020204030204" pitchFamily="34" charset="0"/>
                <a:cs typeface="Calibri" panose="020F0502020204030204" pitchFamily="34" charset="0"/>
              </a:rPr>
              <a:t>The Analytical Challenge:</a:t>
            </a:r>
            <a:r>
              <a:rPr lang="en-IN" sz="1800" dirty="0">
                <a:latin typeface="Calibri" panose="020F0502020204030204" pitchFamily="34" charset="0"/>
                <a:ea typeface="Calibri" panose="020F0502020204030204" pitchFamily="34" charset="0"/>
                <a:cs typeface="Calibri" panose="020F0502020204030204" pitchFamily="34" charset="0"/>
              </a:rPr>
              <a:t> Raw agricultural datasets do not inherently explain how multi-variable agricultural outputs change across growing horizons, leaving critical trends completely hidden.</a:t>
            </a:r>
          </a:p>
          <a:p>
            <a:pPr lvl="0"/>
            <a:r>
              <a:rPr lang="en-IN" sz="1800" b="1" dirty="0">
                <a:latin typeface="Calibri" panose="020F0502020204030204" pitchFamily="34" charset="0"/>
                <a:ea typeface="Calibri" panose="020F0502020204030204" pitchFamily="34" charset="0"/>
                <a:cs typeface="Calibri" panose="020F0502020204030204" pitchFamily="34" charset="0"/>
              </a:rPr>
              <a:t>Project Mission:</a:t>
            </a:r>
            <a:r>
              <a:rPr lang="en-IN" sz="1800" dirty="0">
                <a:latin typeface="Calibri" panose="020F0502020204030204" pitchFamily="34" charset="0"/>
                <a:ea typeface="Calibri" panose="020F0502020204030204" pitchFamily="34" charset="0"/>
                <a:cs typeface="Calibri" panose="020F0502020204030204" pitchFamily="34" charset="0"/>
              </a:rPr>
              <a:t> This study cleans, pre-processes, and thoroughly </a:t>
            </a:r>
            <a:r>
              <a:rPr lang="en-IN" sz="1800" dirty="0" err="1">
                <a:latin typeface="Calibri" panose="020F0502020204030204" pitchFamily="34" charset="0"/>
                <a:ea typeface="Calibri" panose="020F0502020204030204" pitchFamily="34" charset="0"/>
                <a:cs typeface="Calibri" panose="020F0502020204030204" pitchFamily="34" charset="0"/>
              </a:rPr>
              <a:t>analyzes</a:t>
            </a:r>
            <a:r>
              <a:rPr lang="en-IN" sz="1800" dirty="0">
                <a:latin typeface="Calibri" panose="020F0502020204030204" pitchFamily="34" charset="0"/>
                <a:ea typeface="Calibri" panose="020F0502020204030204" pitchFamily="34" charset="0"/>
                <a:cs typeface="Calibri" panose="020F0502020204030204" pitchFamily="34" charset="0"/>
              </a:rPr>
              <a:t> a localized agricultural dataset to investigate cross-seasonal differences. By executing univariate, bivariate, and multivariate analysis, we identify meaningful patterns, linear relationships, and key anomalies within the dataset.</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474062" y="933060"/>
            <a:ext cx="6995604" cy="429297"/>
          </a:xfrm>
        </p:spPr>
        <p:txBody>
          <a:bodyPr>
            <a:noAutofit/>
          </a:bodyPr>
          <a:lstStyle/>
          <a:p>
            <a:r>
              <a:rPr lang="en-US" sz="2400" u="sng" dirty="0">
                <a:solidFill>
                  <a:srgbClr val="0070C0"/>
                </a:solidFill>
                <a:latin typeface="Calibri" panose="020F0502020204030204" pitchFamily="34" charset="0"/>
                <a:ea typeface="Calibri" panose="020F0502020204030204" pitchFamily="34" charset="0"/>
                <a:cs typeface="Calibri" panose="020F0502020204030204" pitchFamily="34" charset="0"/>
              </a:rPr>
              <a:t>PROBLEM  STATEMENT</a:t>
            </a:r>
            <a:endParaRPr lang="en-IN" sz="2400" u="sng"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693246"/>
            <a:ext cx="3137160" cy="445089"/>
          </a:xfrm>
        </p:spPr>
        <p:txBody>
          <a:bodyPr>
            <a:noAutofit/>
          </a:bodyPr>
          <a:lstStyle/>
          <a:p>
            <a:r>
              <a:rPr lang="en-GB" sz="2400" u="sng" dirty="0">
                <a:solidFill>
                  <a:srgbClr val="0070C0"/>
                </a:solidFill>
                <a:latin typeface="Calibri" panose="020F0502020204030204" pitchFamily="34" charset="0"/>
                <a:ea typeface="Calibri" panose="020F0502020204030204" pitchFamily="34" charset="0"/>
                <a:cs typeface="Calibri" panose="020F0502020204030204" pitchFamily="34" charset="0"/>
              </a:rPr>
              <a:t>Project Description</a:t>
            </a:r>
            <a:br>
              <a:rPr lang="en-GB" sz="2400" u="sng" dirty="0">
                <a:solidFill>
                  <a:srgbClr val="0070C0"/>
                </a:solidFill>
                <a:latin typeface="Calibri" panose="020F0502020204030204" pitchFamily="34" charset="0"/>
                <a:ea typeface="Calibri" panose="020F0502020204030204" pitchFamily="34" charset="0"/>
                <a:cs typeface="Calibri" panose="020F0502020204030204" pitchFamily="34" charset="0"/>
              </a:rPr>
            </a:br>
            <a:endParaRPr lang="en-IN" sz="2400" u="sng"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1863F68F-D70C-1A32-136E-C27B98F76BAF}"/>
              </a:ext>
            </a:extLst>
          </p:cNvPr>
          <p:cNvSpPr txBox="1"/>
          <p:nvPr/>
        </p:nvSpPr>
        <p:spPr>
          <a:xfrm>
            <a:off x="467359" y="1396241"/>
            <a:ext cx="9564461" cy="923330"/>
          </a:xfrm>
          <a:prstGeom prst="rect">
            <a:avLst/>
          </a:prstGeom>
          <a:noFill/>
        </p:spPr>
        <p:txBody>
          <a:bodyPr wrap="square" rtlCol="0">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Workbook Strategy:</a:t>
            </a:r>
            <a:r>
              <a:rPr lang="en-IN" dirty="0">
                <a:latin typeface="Calibri" panose="020F0502020204030204" pitchFamily="34" charset="0"/>
                <a:ea typeface="Calibri" panose="020F0502020204030204" pitchFamily="34" charset="0"/>
                <a:cs typeface="Calibri" panose="020F0502020204030204" pitchFamily="34" charset="0"/>
              </a:rPr>
              <a:t> This project sets up an iterative Exploratory Data Analysis (EDA) pipeline utilizing Python's core analytics libraries (pandas, </a:t>
            </a:r>
            <a:r>
              <a:rPr lang="en-IN" dirty="0" err="1">
                <a:latin typeface="Calibri" panose="020F0502020204030204" pitchFamily="34" charset="0"/>
                <a:ea typeface="Calibri" panose="020F0502020204030204" pitchFamily="34" charset="0"/>
                <a:cs typeface="Calibri" panose="020F0502020204030204" pitchFamily="34" charset="0"/>
              </a:rPr>
              <a:t>numpy</a:t>
            </a:r>
            <a:r>
              <a:rPr lang="en-IN" dirty="0">
                <a:latin typeface="Calibri" panose="020F0502020204030204" pitchFamily="34" charset="0"/>
                <a:ea typeface="Calibri" panose="020F0502020204030204" pitchFamily="34" charset="0"/>
                <a:cs typeface="Calibri" panose="020F0502020204030204" pitchFamily="34" charset="0"/>
              </a:rPr>
              <a:t>, matplotlib, seaborn) to evaluate 4,000 multi-regional farm records.</a:t>
            </a:r>
          </a:p>
        </p:txBody>
      </p:sp>
      <p:sp>
        <p:nvSpPr>
          <p:cNvPr id="4" name="TextBox 3">
            <a:extLst>
              <a:ext uri="{FF2B5EF4-FFF2-40B4-BE49-F238E27FC236}">
                <a16:creationId xmlns:a16="http://schemas.microsoft.com/office/drawing/2014/main" id="{B13B053F-F1CB-53E9-70D7-243E0107A0C6}"/>
              </a:ext>
            </a:extLst>
          </p:cNvPr>
          <p:cNvSpPr txBox="1"/>
          <p:nvPr/>
        </p:nvSpPr>
        <p:spPr>
          <a:xfrm>
            <a:off x="467359" y="2577477"/>
            <a:ext cx="9870960" cy="3139321"/>
          </a:xfrm>
          <a:prstGeom prst="rect">
            <a:avLst/>
          </a:prstGeom>
          <a:noFill/>
        </p:spPr>
        <p:txBody>
          <a:bodyPr wrap="square" rtlCol="0">
            <a:spAutoFit/>
          </a:bodyPr>
          <a:lstStyle/>
          <a:p>
            <a:pPr lvl="0"/>
            <a:r>
              <a:rPr lang="en-IN" b="1" dirty="0">
                <a:latin typeface="Calibri" panose="020F0502020204030204" pitchFamily="34" charset="0"/>
                <a:ea typeface="Calibri" panose="020F0502020204030204" pitchFamily="34" charset="0"/>
                <a:cs typeface="Calibri" panose="020F0502020204030204" pitchFamily="34" charset="0"/>
              </a:rPr>
              <a:t>Core Methodology:</a:t>
            </a:r>
          </a:p>
          <a:p>
            <a:pPr lvl="0"/>
            <a:endParaRPr lang="en-IN"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Data Integrity Audit:</a:t>
            </a:r>
            <a:r>
              <a:rPr lang="en-IN" dirty="0">
                <a:latin typeface="Calibri" panose="020F0502020204030204" pitchFamily="34" charset="0"/>
                <a:ea typeface="Calibri" panose="020F0502020204030204" pitchFamily="34" charset="0"/>
                <a:cs typeface="Calibri" panose="020F0502020204030204" pitchFamily="34" charset="0"/>
              </a:rPr>
              <a:t> Cleans duplicate entries and handles data gaps via programmatic median imputation strategies.</a:t>
            </a:r>
          </a:p>
          <a:p>
            <a:pPr lvl="1"/>
            <a:endParaRPr lang="en-IN"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Feature Engineering:</a:t>
            </a:r>
            <a:r>
              <a:rPr lang="en-IN" dirty="0">
                <a:latin typeface="Calibri" panose="020F0502020204030204" pitchFamily="34" charset="0"/>
                <a:ea typeface="Calibri" panose="020F0502020204030204" pitchFamily="34" charset="0"/>
                <a:cs typeface="Calibri" panose="020F0502020204030204" pitchFamily="34" charset="0"/>
              </a:rPr>
              <a:t> Creates business KPIs, including Net Profit Margin (%), Cost-to-Revenue Ratio, and a Water Efficiency Index (Tonnes per 1000m³).</a:t>
            </a:r>
          </a:p>
          <a:p>
            <a:pPr lvl="1"/>
            <a:endParaRPr lang="en-IN"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Visual Mapping Layout:</a:t>
            </a:r>
            <a:r>
              <a:rPr lang="en-IN" dirty="0">
                <a:latin typeface="Calibri" panose="020F0502020204030204" pitchFamily="34" charset="0"/>
                <a:ea typeface="Calibri" panose="020F0502020204030204" pitchFamily="34" charset="0"/>
                <a:cs typeface="Calibri" panose="020F0502020204030204" pitchFamily="34" charset="0"/>
              </a:rPr>
              <a:t> Plots variance profiles using specialized histograms, single-variable density estimate lines, categorical bar charts, and dual-axis heatmaps.</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506755" y="1552821"/>
            <a:ext cx="8851849" cy="4269481"/>
          </a:xfrm>
        </p:spPr>
        <p:txBody>
          <a:bodyPr>
            <a:noAutofit/>
          </a:bodyPr>
          <a:lstStyle/>
          <a:p>
            <a:pPr lvl="0"/>
            <a:r>
              <a:rPr lang="en-IN" sz="1800" b="1" dirty="0">
                <a:latin typeface="Calibri" panose="020F0502020204030204" pitchFamily="34" charset="0"/>
                <a:ea typeface="Calibri" panose="020F0502020204030204" pitchFamily="34" charset="0"/>
                <a:cs typeface="Calibri" panose="020F0502020204030204" pitchFamily="34" charset="0"/>
              </a:rPr>
              <a:t>1. Regional Agricultural Planners &amp; Policymakers:</a:t>
            </a:r>
            <a:endParaRPr lang="en-IN" sz="1800" dirty="0">
              <a:latin typeface="Calibri" panose="020F0502020204030204" pitchFamily="34" charset="0"/>
              <a:ea typeface="Calibri" panose="020F0502020204030204" pitchFamily="34" charset="0"/>
              <a:cs typeface="Calibri" panose="020F0502020204030204" pitchFamily="34" charset="0"/>
            </a:endParaRPr>
          </a:p>
          <a:p>
            <a:pPr lvl="1"/>
            <a:r>
              <a:rPr lang="en-IN" dirty="0">
                <a:latin typeface="Calibri" panose="020F0502020204030204" pitchFamily="34" charset="0"/>
                <a:ea typeface="Calibri" panose="020F0502020204030204" pitchFamily="34" charset="0"/>
                <a:cs typeface="Calibri" panose="020F0502020204030204" pitchFamily="34" charset="0"/>
              </a:rPr>
              <a:t>Use data-backed insights to design regional crop rotation schedules and manage regional water resources.</a:t>
            </a:r>
          </a:p>
          <a:p>
            <a:pPr lvl="0"/>
            <a:r>
              <a:rPr lang="en-IN" sz="1800" b="1" dirty="0">
                <a:latin typeface="Calibri" panose="020F0502020204030204" pitchFamily="34" charset="0"/>
                <a:ea typeface="Calibri" panose="020F0502020204030204" pitchFamily="34" charset="0"/>
                <a:cs typeface="Calibri" panose="020F0502020204030204" pitchFamily="34" charset="0"/>
              </a:rPr>
              <a:t>2. Farmers &amp; Agricultural Cooperatives:</a:t>
            </a:r>
            <a:endParaRPr lang="en-IN" sz="1800" dirty="0">
              <a:latin typeface="Calibri" panose="020F0502020204030204" pitchFamily="34" charset="0"/>
              <a:ea typeface="Calibri" panose="020F0502020204030204" pitchFamily="34" charset="0"/>
              <a:cs typeface="Calibri" panose="020F0502020204030204" pitchFamily="34" charset="0"/>
            </a:endParaRPr>
          </a:p>
          <a:p>
            <a:pPr lvl="1"/>
            <a:r>
              <a:rPr lang="en-IN" dirty="0">
                <a:latin typeface="Calibri" panose="020F0502020204030204" pitchFamily="34" charset="0"/>
                <a:ea typeface="Calibri" panose="020F0502020204030204" pitchFamily="34" charset="0"/>
                <a:cs typeface="Calibri" panose="020F0502020204030204" pitchFamily="34" charset="0"/>
              </a:rPr>
              <a:t>Gain deep visibility into fertilizer saturation risks and seasonal cash crop returns to optimize farm-level profit margins.</a:t>
            </a:r>
          </a:p>
          <a:p>
            <a:pPr lvl="0"/>
            <a:r>
              <a:rPr lang="en-IN" sz="1800" b="1" dirty="0">
                <a:latin typeface="Calibri" panose="020F0502020204030204" pitchFamily="34" charset="0"/>
                <a:ea typeface="Calibri" panose="020F0502020204030204" pitchFamily="34" charset="0"/>
                <a:cs typeface="Calibri" panose="020F0502020204030204" pitchFamily="34" charset="0"/>
              </a:rPr>
              <a:t>3. Agribusiness Supply-Chain Managers:</a:t>
            </a:r>
            <a:endParaRPr lang="en-IN" sz="1800" dirty="0">
              <a:latin typeface="Calibri" panose="020F0502020204030204" pitchFamily="34" charset="0"/>
              <a:ea typeface="Calibri" panose="020F0502020204030204" pitchFamily="34" charset="0"/>
              <a:cs typeface="Calibri" panose="020F0502020204030204" pitchFamily="34" charset="0"/>
            </a:endParaRPr>
          </a:p>
          <a:p>
            <a:pPr lvl="1"/>
            <a:r>
              <a:rPr lang="en-IN" dirty="0">
                <a:latin typeface="Calibri" panose="020F0502020204030204" pitchFamily="34" charset="0"/>
                <a:ea typeface="Calibri" panose="020F0502020204030204" pitchFamily="34" charset="0"/>
                <a:cs typeface="Calibri" panose="020F0502020204030204" pitchFamily="34" charset="0"/>
              </a:rPr>
              <a:t>Rely on production and harvest volume summaries to optimize logistics, grain storage logistics, and target market drops.</a:t>
            </a:r>
          </a:p>
          <a:p>
            <a:pPr lvl="0"/>
            <a:r>
              <a:rPr lang="en-IN" sz="1800" b="1" dirty="0">
                <a:latin typeface="Calibri" panose="020F0502020204030204" pitchFamily="34" charset="0"/>
                <a:ea typeface="Calibri" panose="020F0502020204030204" pitchFamily="34" charset="0"/>
                <a:cs typeface="Calibri" panose="020F0502020204030204" pitchFamily="34" charset="0"/>
              </a:rPr>
              <a:t>4. Rural Micro-Finance &amp; Insurance Institutions:</a:t>
            </a:r>
            <a:endParaRPr lang="en-IN" sz="1800" dirty="0">
              <a:latin typeface="Calibri" panose="020F0502020204030204" pitchFamily="34" charset="0"/>
              <a:ea typeface="Calibri" panose="020F0502020204030204" pitchFamily="34" charset="0"/>
              <a:cs typeface="Calibri" panose="020F0502020204030204" pitchFamily="34" charset="0"/>
            </a:endParaRPr>
          </a:p>
          <a:p>
            <a:pPr lvl="1"/>
            <a:r>
              <a:rPr lang="en-IN" dirty="0">
                <a:latin typeface="Calibri" panose="020F0502020204030204" pitchFamily="34" charset="0"/>
                <a:ea typeface="Calibri" panose="020F0502020204030204" pitchFamily="34" charset="0"/>
                <a:cs typeface="Calibri" panose="020F0502020204030204" pitchFamily="34" charset="0"/>
              </a:rPr>
              <a:t>Utilize seasonal crop failure risk spreads and environmental profiles to establish fair credit baselines and evaluate policy parameters.</a:t>
            </a:r>
            <a:br>
              <a:rPr lang="en-IN" sz="1800" dirty="0">
                <a:latin typeface="Calibri" panose="020F0502020204030204" pitchFamily="34" charset="0"/>
                <a:ea typeface="Calibri" panose="020F0502020204030204" pitchFamily="34" charset="0"/>
                <a:cs typeface="Calibri" panose="020F0502020204030204" pitchFamily="34" charset="0"/>
              </a:rPr>
            </a:br>
            <a:endParaRPr lang="en-IN" sz="1800" dirty="0">
              <a:latin typeface="Calibri" panose="020F0502020204030204" pitchFamily="34" charset="0"/>
              <a:ea typeface="Calibri" panose="020F0502020204030204" pitchFamily="34" charset="0"/>
              <a:cs typeface="Calibri" panose="020F0502020204030204" pitchFamily="34" charset="0"/>
            </a:endParaRPr>
          </a:p>
          <a:p>
            <a:pPr algn="just">
              <a:lnSpc>
                <a:spcPct val="150000"/>
              </a:lnSpc>
            </a:pP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8"/>
            <a:ext cx="10046070" cy="485776"/>
          </a:xfrm>
        </p:spPr>
        <p:txBody>
          <a:bodyPr>
            <a:normAutofit/>
          </a:bodyPr>
          <a:lstStyle/>
          <a:p>
            <a:r>
              <a:rPr lang="en-US" sz="2400" u="sng" dirty="0">
                <a:solidFill>
                  <a:srgbClr val="0070C0"/>
                </a:solidFill>
                <a:latin typeface="Calibri" panose="020F0502020204030204" pitchFamily="34" charset="0"/>
                <a:ea typeface="Calibri" panose="020F0502020204030204" pitchFamily="34" charset="0"/>
                <a:cs typeface="Calibri" panose="020F0502020204030204" pitchFamily="34" charset="0"/>
              </a:rPr>
              <a:t>WHO ARE THE END USERS?</a:t>
            </a:r>
            <a:endParaRPr lang="en-IN" sz="2400" u="sng"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fade">
                                      <p:cBhvr>
                                        <p:cTn id="19" dur="1000"/>
                                        <p:tgtEl>
                                          <p:spTgt spid="2">
                                            <p:txEl>
                                              <p:pRg st="1" end="1"/>
                                            </p:txEl>
                                          </p:spTgt>
                                        </p:tgtEl>
                                      </p:cBhvr>
                                    </p:animEffect>
                                    <p:anim calcmode="lin" valueType="num">
                                      <p:cBhvr>
                                        <p:cTn id="20"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
                                            <p:txEl>
                                              <p:pRg st="2" end="2"/>
                                            </p:txEl>
                                          </p:spTgt>
                                        </p:tgtEl>
                                        <p:attrNameLst>
                                          <p:attrName>style.visibility</p:attrName>
                                        </p:attrNameLst>
                                      </p:cBhvr>
                                      <p:to>
                                        <p:strVal val="visible"/>
                                      </p:to>
                                    </p:set>
                                    <p:animEffect transition="in" filter="fade">
                                      <p:cBhvr>
                                        <p:cTn id="26" dur="1000"/>
                                        <p:tgtEl>
                                          <p:spTgt spid="2">
                                            <p:txEl>
                                              <p:pRg st="2" end="2"/>
                                            </p:txEl>
                                          </p:spTgt>
                                        </p:tgtEl>
                                      </p:cBhvr>
                                    </p:animEffect>
                                    <p:anim calcmode="lin" valueType="num">
                                      <p:cBhvr>
                                        <p:cTn id="27"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Effect transition="in" filter="fade">
                                      <p:cBhvr>
                                        <p:cTn id="31" dur="1000"/>
                                        <p:tgtEl>
                                          <p:spTgt spid="2">
                                            <p:txEl>
                                              <p:pRg st="3" end="3"/>
                                            </p:txEl>
                                          </p:spTgt>
                                        </p:tgtEl>
                                      </p:cBhvr>
                                    </p:animEffect>
                                    <p:anim calcmode="lin" valueType="num">
                                      <p:cBhvr>
                                        <p:cTn id="32"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2">
                                            <p:txEl>
                                              <p:pRg st="4" end="4"/>
                                            </p:txEl>
                                          </p:spTgt>
                                        </p:tgtEl>
                                        <p:attrNameLst>
                                          <p:attrName>style.visibility</p:attrName>
                                        </p:attrNameLst>
                                      </p:cBhvr>
                                      <p:to>
                                        <p:strVal val="visible"/>
                                      </p:to>
                                    </p:set>
                                    <p:animEffect transition="in" filter="fade">
                                      <p:cBhvr>
                                        <p:cTn id="38" dur="1000"/>
                                        <p:tgtEl>
                                          <p:spTgt spid="2">
                                            <p:txEl>
                                              <p:pRg st="4" end="4"/>
                                            </p:txEl>
                                          </p:spTgt>
                                        </p:tgtEl>
                                      </p:cBhvr>
                                    </p:animEffect>
                                    <p:anim calcmode="lin" valueType="num">
                                      <p:cBhvr>
                                        <p:cTn id="3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2">
                                            <p:txEl>
                                              <p:pRg st="4" end="4"/>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
                                            <p:txEl>
                                              <p:pRg st="5" end="5"/>
                                            </p:txEl>
                                          </p:spTgt>
                                        </p:tgtEl>
                                        <p:attrNameLst>
                                          <p:attrName>style.visibility</p:attrName>
                                        </p:attrNameLst>
                                      </p:cBhvr>
                                      <p:to>
                                        <p:strVal val="visible"/>
                                      </p:to>
                                    </p:set>
                                    <p:animEffect transition="in" filter="fade">
                                      <p:cBhvr>
                                        <p:cTn id="43" dur="1000"/>
                                        <p:tgtEl>
                                          <p:spTgt spid="2">
                                            <p:txEl>
                                              <p:pRg st="5" end="5"/>
                                            </p:txEl>
                                          </p:spTgt>
                                        </p:tgtEl>
                                      </p:cBhvr>
                                    </p:animEffect>
                                    <p:anim calcmode="lin" valueType="num">
                                      <p:cBhvr>
                                        <p:cTn id="44"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2">
                                            <p:txEl>
                                              <p:pRg st="6" end="6"/>
                                            </p:txEl>
                                          </p:spTgt>
                                        </p:tgtEl>
                                        <p:attrNameLst>
                                          <p:attrName>style.visibility</p:attrName>
                                        </p:attrNameLst>
                                      </p:cBhvr>
                                      <p:to>
                                        <p:strVal val="visible"/>
                                      </p:to>
                                    </p:set>
                                    <p:animEffect transition="in" filter="fade">
                                      <p:cBhvr>
                                        <p:cTn id="50" dur="1000"/>
                                        <p:tgtEl>
                                          <p:spTgt spid="2">
                                            <p:txEl>
                                              <p:pRg st="6" end="6"/>
                                            </p:txEl>
                                          </p:spTgt>
                                        </p:tgtEl>
                                      </p:cBhvr>
                                    </p:animEffect>
                                    <p:anim calcmode="lin" valueType="num">
                                      <p:cBhvr>
                                        <p:cTn id="51"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2" dur="1000" fill="hold"/>
                                        <p:tgtEl>
                                          <p:spTgt spid="2">
                                            <p:txEl>
                                              <p:pRg st="6" end="6"/>
                                            </p:txEl>
                                          </p:spTgt>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
                                            <p:txEl>
                                              <p:pRg st="7" end="7"/>
                                            </p:txEl>
                                          </p:spTgt>
                                        </p:tgtEl>
                                        <p:attrNameLst>
                                          <p:attrName>style.visibility</p:attrName>
                                        </p:attrNameLst>
                                      </p:cBhvr>
                                      <p:to>
                                        <p:strVal val="visible"/>
                                      </p:to>
                                    </p:set>
                                    <p:animEffect transition="in" filter="fade">
                                      <p:cBhvr>
                                        <p:cTn id="55" dur="1000"/>
                                        <p:tgtEl>
                                          <p:spTgt spid="2">
                                            <p:txEl>
                                              <p:pRg st="7" end="7"/>
                                            </p:txEl>
                                          </p:spTgt>
                                        </p:tgtEl>
                                      </p:cBhvr>
                                    </p:animEffect>
                                    <p:anim calcmode="lin" valueType="num">
                                      <p:cBhvr>
                                        <p:cTn id="56"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7"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202381" y="980057"/>
            <a:ext cx="9027702" cy="3927845"/>
          </a:xfrm>
        </p:spPr>
        <p:txBody>
          <a:bodyPr>
            <a:normAutofit fontScale="92500"/>
          </a:bodyPr>
          <a:lstStyle/>
          <a:p>
            <a:pPr lvl="0"/>
            <a:r>
              <a:rPr lang="en-IN" sz="1800" b="1" dirty="0">
                <a:latin typeface="Calibri" panose="020F0502020204030204" pitchFamily="34" charset="0"/>
                <a:ea typeface="Calibri" panose="020F0502020204030204" pitchFamily="34" charset="0"/>
                <a:cs typeface="Calibri" panose="020F0502020204030204" pitchFamily="34" charset="0"/>
              </a:rPr>
              <a:t>Core Language Runtime:</a:t>
            </a:r>
            <a:r>
              <a:rPr lang="en-IN" sz="1800" dirty="0">
                <a:latin typeface="Calibri" panose="020F0502020204030204" pitchFamily="34" charset="0"/>
                <a:ea typeface="Calibri" panose="020F0502020204030204" pitchFamily="34" charset="0"/>
                <a:cs typeface="Calibri" panose="020F0502020204030204" pitchFamily="34" charset="0"/>
              </a:rPr>
              <a:t> Python 3.14 (Optimized for robust data computing tasks).</a:t>
            </a:r>
          </a:p>
          <a:p>
            <a:pPr lvl="0"/>
            <a:r>
              <a:rPr lang="en-IN" sz="1800" b="1" dirty="0">
                <a:latin typeface="Calibri" panose="020F0502020204030204" pitchFamily="34" charset="0"/>
                <a:ea typeface="Calibri" panose="020F0502020204030204" pitchFamily="34" charset="0"/>
                <a:cs typeface="Calibri" panose="020F0502020204030204" pitchFamily="34" charset="0"/>
              </a:rPr>
              <a:t>Data Ingestion &amp; Structural Manipulation:</a:t>
            </a:r>
            <a:endParaRPr lang="en-IN" sz="1800" dirty="0">
              <a:latin typeface="Calibri" panose="020F0502020204030204" pitchFamily="34" charset="0"/>
              <a:ea typeface="Calibri" panose="020F0502020204030204" pitchFamily="34" charset="0"/>
              <a:cs typeface="Calibri" panose="020F0502020204030204" pitchFamily="34" charset="0"/>
            </a:endParaRPr>
          </a:p>
          <a:p>
            <a:pPr lvl="1"/>
            <a:r>
              <a:rPr lang="en-IN" sz="1800" b="1" dirty="0">
                <a:latin typeface="Calibri" panose="020F0502020204030204" pitchFamily="34" charset="0"/>
                <a:ea typeface="Calibri" panose="020F0502020204030204" pitchFamily="34" charset="0"/>
                <a:cs typeface="Calibri" panose="020F0502020204030204" pitchFamily="34" charset="0"/>
              </a:rPr>
              <a:t>Pandas:</a:t>
            </a:r>
            <a:r>
              <a:rPr lang="en-IN" sz="1800" dirty="0">
                <a:latin typeface="Calibri" panose="020F0502020204030204" pitchFamily="34" charset="0"/>
                <a:ea typeface="Calibri" panose="020F0502020204030204" pitchFamily="34" charset="0"/>
                <a:cs typeface="Calibri" panose="020F0502020204030204" pitchFamily="34" charset="0"/>
              </a:rPr>
              <a:t> Used for categorical grouping operations, variable sorting, data index cleaning, and building pivot summary matrices.</a:t>
            </a:r>
          </a:p>
          <a:p>
            <a:pPr lvl="1"/>
            <a:r>
              <a:rPr lang="en-IN" sz="1800" b="1" dirty="0">
                <a:latin typeface="Calibri" panose="020F0502020204030204" pitchFamily="34" charset="0"/>
                <a:ea typeface="Calibri" panose="020F0502020204030204" pitchFamily="34" charset="0"/>
                <a:cs typeface="Calibri" panose="020F0502020204030204" pitchFamily="34" charset="0"/>
              </a:rPr>
              <a:t>NumPy:</a:t>
            </a:r>
            <a:r>
              <a:rPr lang="en-IN" sz="1800" dirty="0">
                <a:latin typeface="Calibri" panose="020F0502020204030204" pitchFamily="34" charset="0"/>
                <a:ea typeface="Calibri" panose="020F0502020204030204" pitchFamily="34" charset="0"/>
                <a:cs typeface="Calibri" panose="020F0502020204030204" pitchFamily="34" charset="0"/>
              </a:rPr>
              <a:t> Handles high-performance multi-dimensional array operations and calculates localized mathematical parameters.</a:t>
            </a:r>
          </a:p>
          <a:p>
            <a:pPr lvl="0"/>
            <a:r>
              <a:rPr lang="en-IN" sz="1800" b="1" dirty="0">
                <a:latin typeface="Calibri" panose="020F0502020204030204" pitchFamily="34" charset="0"/>
                <a:ea typeface="Calibri" panose="020F0502020204030204" pitchFamily="34" charset="0"/>
                <a:cs typeface="Calibri" panose="020F0502020204030204" pitchFamily="34" charset="0"/>
              </a:rPr>
              <a:t>Exploratory Visualizations &amp; Heat Mapping:</a:t>
            </a:r>
            <a:endParaRPr lang="en-IN" sz="1800" dirty="0">
              <a:latin typeface="Calibri" panose="020F0502020204030204" pitchFamily="34" charset="0"/>
              <a:ea typeface="Calibri" panose="020F0502020204030204" pitchFamily="34" charset="0"/>
              <a:cs typeface="Calibri" panose="020F0502020204030204" pitchFamily="34" charset="0"/>
            </a:endParaRPr>
          </a:p>
          <a:p>
            <a:pPr lvl="1"/>
            <a:r>
              <a:rPr lang="en-IN" sz="1800" b="1" dirty="0">
                <a:latin typeface="Calibri" panose="020F0502020204030204" pitchFamily="34" charset="0"/>
                <a:ea typeface="Calibri" panose="020F0502020204030204" pitchFamily="34" charset="0"/>
                <a:cs typeface="Calibri" panose="020F0502020204030204" pitchFamily="34" charset="0"/>
              </a:rPr>
              <a:t>Matplotlib:</a:t>
            </a:r>
            <a:r>
              <a:rPr lang="en-IN" sz="1800" dirty="0">
                <a:latin typeface="Calibri" panose="020F0502020204030204" pitchFamily="34" charset="0"/>
                <a:ea typeface="Calibri" panose="020F0502020204030204" pitchFamily="34" charset="0"/>
                <a:cs typeface="Calibri" panose="020F0502020204030204" pitchFamily="34" charset="0"/>
              </a:rPr>
              <a:t> Coordinates global canvas properties, subplots layout grids, and axis ranges.</a:t>
            </a:r>
          </a:p>
          <a:p>
            <a:pPr lvl="1"/>
            <a:r>
              <a:rPr lang="en-IN" sz="1800" b="1" dirty="0">
                <a:latin typeface="Calibri" panose="020F0502020204030204" pitchFamily="34" charset="0"/>
                <a:ea typeface="Calibri" panose="020F0502020204030204" pitchFamily="34" charset="0"/>
                <a:cs typeface="Calibri" panose="020F0502020204030204" pitchFamily="34" charset="0"/>
              </a:rPr>
              <a:t>Seaborn:</a:t>
            </a:r>
            <a:r>
              <a:rPr lang="en-IN" sz="1800" dirty="0">
                <a:latin typeface="Calibri" panose="020F0502020204030204" pitchFamily="34" charset="0"/>
                <a:ea typeface="Calibri" panose="020F0502020204030204" pitchFamily="34" charset="0"/>
                <a:cs typeface="Calibri" panose="020F0502020204030204" pitchFamily="34" charset="0"/>
              </a:rPr>
              <a:t> Renders multi-variable bar charts, outlier box plots, and continuous feature density graphs.</a:t>
            </a:r>
          </a:p>
          <a:p>
            <a:pPr lvl="1">
              <a:lnSpc>
                <a:spcPct val="150000"/>
              </a:lnSpc>
            </a:pP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362535"/>
          </a:xfrm>
        </p:spPr>
        <p:txBody>
          <a:bodyPr>
            <a:normAutofit fontScale="90000"/>
          </a:bodyPr>
          <a:lstStyle/>
          <a:p>
            <a:r>
              <a:rPr lang="en-US" sz="2400" u="sng" dirty="0">
                <a:solidFill>
                  <a:srgbClr val="0070C0"/>
                </a:solidFill>
                <a:latin typeface="Calibri" panose="020F0502020204030204" pitchFamily="34" charset="0"/>
                <a:ea typeface="Calibri" panose="020F0502020204030204" pitchFamily="34" charset="0"/>
                <a:cs typeface="Calibri" panose="020F0502020204030204" pitchFamily="34"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7">
                                            <p:txEl>
                                              <p:pRg st="2" end="2"/>
                                            </p:txEl>
                                          </p:spTgt>
                                        </p:tgtEl>
                                        <p:attrNameLst>
                                          <p:attrName>style.visibility</p:attrName>
                                        </p:attrNameLst>
                                      </p:cBhvr>
                                      <p:to>
                                        <p:strVal val="visible"/>
                                      </p:to>
                                    </p:set>
                                    <p:animEffect transition="in" filter="fade">
                                      <p:cBhvr>
                                        <p:cTn id="26" dur="1000"/>
                                        <p:tgtEl>
                                          <p:spTgt spid="7">
                                            <p:txEl>
                                              <p:pRg st="2" end="2"/>
                                            </p:txEl>
                                          </p:spTgt>
                                        </p:tgtEl>
                                      </p:cBhvr>
                                    </p:animEffect>
                                    <p:anim calcmode="lin" valueType="num">
                                      <p:cBhvr>
                                        <p:cTn id="27"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animEffect transition="in" filter="fade">
                                      <p:cBhvr>
                                        <p:cTn id="31" dur="1000"/>
                                        <p:tgtEl>
                                          <p:spTgt spid="7">
                                            <p:txEl>
                                              <p:pRg st="3" end="3"/>
                                            </p:txEl>
                                          </p:spTgt>
                                        </p:tgtEl>
                                      </p:cBhvr>
                                    </p:animEffect>
                                    <p:anim calcmode="lin" valueType="num">
                                      <p:cBhvr>
                                        <p:cTn id="3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7">
                                            <p:txEl>
                                              <p:pRg st="4" end="4"/>
                                            </p:txEl>
                                          </p:spTgt>
                                        </p:tgtEl>
                                        <p:attrNameLst>
                                          <p:attrName>style.visibility</p:attrName>
                                        </p:attrNameLst>
                                      </p:cBhvr>
                                      <p:to>
                                        <p:strVal val="visible"/>
                                      </p:to>
                                    </p:set>
                                    <p:animEffect transition="in" filter="fade">
                                      <p:cBhvr>
                                        <p:cTn id="38" dur="1000"/>
                                        <p:tgtEl>
                                          <p:spTgt spid="7">
                                            <p:txEl>
                                              <p:pRg st="4" end="4"/>
                                            </p:txEl>
                                          </p:spTgt>
                                        </p:tgtEl>
                                      </p:cBhvr>
                                    </p:animEffect>
                                    <p:anim calcmode="lin" valueType="num">
                                      <p:cBhvr>
                                        <p:cTn id="39"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7">
                                            <p:txEl>
                                              <p:pRg st="4" end="4"/>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7">
                                            <p:txEl>
                                              <p:pRg st="5" end="5"/>
                                            </p:txEl>
                                          </p:spTgt>
                                        </p:tgtEl>
                                        <p:attrNameLst>
                                          <p:attrName>style.visibility</p:attrName>
                                        </p:attrNameLst>
                                      </p:cBhvr>
                                      <p:to>
                                        <p:strVal val="visible"/>
                                      </p:to>
                                    </p:set>
                                    <p:animEffect transition="in" filter="fade">
                                      <p:cBhvr>
                                        <p:cTn id="43" dur="1000"/>
                                        <p:tgtEl>
                                          <p:spTgt spid="7">
                                            <p:txEl>
                                              <p:pRg st="5" end="5"/>
                                            </p:txEl>
                                          </p:spTgt>
                                        </p:tgtEl>
                                      </p:cBhvr>
                                    </p:animEffect>
                                    <p:anim calcmode="lin" valueType="num">
                                      <p:cBhvr>
                                        <p:cTn id="44"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7">
                                            <p:txEl>
                                              <p:pRg st="6" end="6"/>
                                            </p:txEl>
                                          </p:spTgt>
                                        </p:tgtEl>
                                        <p:attrNameLst>
                                          <p:attrName>style.visibility</p:attrName>
                                        </p:attrNameLst>
                                      </p:cBhvr>
                                      <p:to>
                                        <p:strVal val="visible"/>
                                      </p:to>
                                    </p:set>
                                    <p:animEffect transition="in" filter="fade">
                                      <p:cBhvr>
                                        <p:cTn id="48" dur="1000"/>
                                        <p:tgtEl>
                                          <p:spTgt spid="7">
                                            <p:txEl>
                                              <p:pRg st="6" end="6"/>
                                            </p:txEl>
                                          </p:spTgt>
                                        </p:tgtEl>
                                      </p:cBhvr>
                                    </p:animEffect>
                                    <p:anim calcmode="lin" valueType="num">
                                      <p:cBhvr>
                                        <p:cTn id="4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266757" y="361258"/>
            <a:ext cx="2981643" cy="450505"/>
          </a:xfrm>
        </p:spPr>
        <p:txBody>
          <a:bodyPr>
            <a:normAutofit fontScale="90000"/>
          </a:bodyPr>
          <a:lstStyle/>
          <a:p>
            <a:r>
              <a:rPr lang="en-GB" sz="2400" u="sng" dirty="0">
                <a:solidFill>
                  <a:srgbClr val="0070C0"/>
                </a:solidFill>
                <a:latin typeface="Calibri" panose="020F0502020204030204" pitchFamily="34" charset="0"/>
                <a:ea typeface="Calibri" panose="020F0502020204030204" pitchFamily="34" charset="0"/>
                <a:cs typeface="Calibri" panose="020F0502020204030204" pitchFamily="34" charset="0"/>
              </a:rPr>
              <a:t>RESULTS </a:t>
            </a:r>
            <a:endParaRPr lang="en-IN" sz="2400" u="sng"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A58D624-A6A6-6E3F-D8E2-FFC760821CA3}"/>
              </a:ext>
            </a:extLst>
          </p:cNvPr>
          <p:cNvPicPr>
            <a:picLocks noChangeAspect="1"/>
          </p:cNvPicPr>
          <p:nvPr/>
        </p:nvPicPr>
        <p:blipFill>
          <a:blip r:embed="rId3"/>
          <a:srcRect t="13497" b="5530"/>
          <a:stretch>
            <a:fillRect/>
          </a:stretch>
        </p:blipFill>
        <p:spPr>
          <a:xfrm>
            <a:off x="320982" y="905069"/>
            <a:ext cx="9047437" cy="429208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317140" y="10907"/>
            <a:ext cx="2860757" cy="666077"/>
          </a:xfrm>
        </p:spPr>
        <p:txBody>
          <a:bodyPr>
            <a:normAutofit fontScale="90000"/>
          </a:bodyPr>
          <a:lstStyle/>
          <a:p>
            <a:r>
              <a:rPr lang="en-GB" sz="2700" u="sng" dirty="0">
                <a:solidFill>
                  <a:srgbClr val="0070C0"/>
                </a:solidFill>
                <a:latin typeface="Calibri" panose="020F0502020204030204" pitchFamily="34" charset="0"/>
                <a:ea typeface="Calibri" panose="020F0502020204030204" pitchFamily="34" charset="0"/>
                <a:cs typeface="Calibri" panose="020F0502020204030204" pitchFamily="34" charset="0"/>
              </a:rPr>
              <a:t>RESULTS</a:t>
            </a:r>
            <a:r>
              <a:rPr lang="en-GB" dirty="0"/>
              <a:t>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570ADC2-ED29-6C47-3F90-68742EB7CC50}"/>
              </a:ext>
            </a:extLst>
          </p:cNvPr>
          <p:cNvPicPr>
            <a:picLocks noChangeAspect="1"/>
          </p:cNvPicPr>
          <p:nvPr/>
        </p:nvPicPr>
        <p:blipFill>
          <a:blip r:embed="rId3"/>
          <a:srcRect l="17143" t="14490" r="20944"/>
          <a:stretch>
            <a:fillRect/>
          </a:stretch>
        </p:blipFill>
        <p:spPr>
          <a:xfrm>
            <a:off x="294490" y="743909"/>
            <a:ext cx="6858000" cy="503188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B70ACECF-BF0C-E16D-EE71-1A778E9A09D8}"/>
              </a:ext>
            </a:extLst>
          </p:cNvPr>
          <p:cNvPicPr>
            <a:picLocks noChangeAspect="1"/>
          </p:cNvPicPr>
          <p:nvPr/>
        </p:nvPicPr>
        <p:blipFill>
          <a:blip r:embed="rId3"/>
          <a:srcRect t="13481"/>
          <a:stretch>
            <a:fillRect/>
          </a:stretch>
        </p:blipFill>
        <p:spPr>
          <a:xfrm>
            <a:off x="223934" y="1201586"/>
            <a:ext cx="9491583" cy="436261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197CC97-73A9-4674-16F9-0121AE0A6857}"/>
              </a:ext>
            </a:extLst>
          </p:cNvPr>
          <p:cNvPicPr>
            <a:picLocks noChangeAspect="1"/>
          </p:cNvPicPr>
          <p:nvPr/>
        </p:nvPicPr>
        <p:blipFill>
          <a:blip r:embed="rId3"/>
          <a:stretch>
            <a:fillRect/>
          </a:stretch>
        </p:blipFill>
        <p:spPr>
          <a:xfrm>
            <a:off x="320982" y="1275371"/>
            <a:ext cx="9599919" cy="509995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34837D6-156F-D7B3-C9D4-27950B193BF0}"/>
              </a:ext>
            </a:extLst>
          </p:cNvPr>
          <p:cNvPicPr>
            <a:picLocks noChangeAspect="1"/>
          </p:cNvPicPr>
          <p:nvPr/>
        </p:nvPicPr>
        <p:blipFill>
          <a:blip r:embed="rId3"/>
          <a:stretch>
            <a:fillRect/>
          </a:stretch>
        </p:blipFill>
        <p:spPr>
          <a:xfrm>
            <a:off x="121298" y="1275371"/>
            <a:ext cx="9828245" cy="522125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5326F76-0797-03C7-1953-6DB57C616074}"/>
              </a:ext>
            </a:extLst>
          </p:cNvPr>
          <p:cNvPicPr>
            <a:picLocks noChangeAspect="1"/>
          </p:cNvPicPr>
          <p:nvPr/>
        </p:nvPicPr>
        <p:blipFill>
          <a:blip r:embed="rId2"/>
          <a:srcRect b="6395"/>
          <a:stretch>
            <a:fillRect/>
          </a:stretch>
        </p:blipFill>
        <p:spPr>
          <a:xfrm>
            <a:off x="223934" y="345233"/>
            <a:ext cx="10100931" cy="5318449"/>
          </a:xfrm>
          <a:prstGeom prst="rect">
            <a:avLst/>
          </a:prstGeom>
        </p:spPr>
      </p:pic>
    </p:spTree>
    <p:extLst>
      <p:ext uri="{BB962C8B-B14F-4D97-AF65-F5344CB8AC3E}">
        <p14:creationId xmlns:p14="http://schemas.microsoft.com/office/powerpoint/2010/main" val="1514409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830823-4F1C-9E79-585C-257B83FDB771}"/>
              </a:ext>
            </a:extLst>
          </p:cNvPr>
          <p:cNvPicPr>
            <a:picLocks noChangeAspect="1"/>
          </p:cNvPicPr>
          <p:nvPr/>
        </p:nvPicPr>
        <p:blipFill>
          <a:blip r:embed="rId2"/>
          <a:stretch>
            <a:fillRect/>
          </a:stretch>
        </p:blipFill>
        <p:spPr>
          <a:xfrm>
            <a:off x="270589" y="339789"/>
            <a:ext cx="10355150" cy="5501173"/>
          </a:xfrm>
          <a:prstGeom prst="rect">
            <a:avLst/>
          </a:prstGeom>
        </p:spPr>
      </p:pic>
    </p:spTree>
    <p:extLst>
      <p:ext uri="{BB962C8B-B14F-4D97-AF65-F5344CB8AC3E}">
        <p14:creationId xmlns:p14="http://schemas.microsoft.com/office/powerpoint/2010/main" val="2248815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2563389-DEC1-DF49-EF67-F3D98DC1F3DD}"/>
              </a:ext>
            </a:extLst>
          </p:cNvPr>
          <p:cNvPicPr>
            <a:picLocks noChangeAspect="1"/>
          </p:cNvPicPr>
          <p:nvPr/>
        </p:nvPicPr>
        <p:blipFill>
          <a:blip r:embed="rId2"/>
          <a:stretch>
            <a:fillRect/>
          </a:stretch>
        </p:blipFill>
        <p:spPr>
          <a:xfrm>
            <a:off x="298580" y="339790"/>
            <a:ext cx="9494537" cy="5043973"/>
          </a:xfrm>
          <a:prstGeom prst="rect">
            <a:avLst/>
          </a:prstGeom>
        </p:spPr>
      </p:pic>
    </p:spTree>
    <p:extLst>
      <p:ext uri="{BB962C8B-B14F-4D97-AF65-F5344CB8AC3E}">
        <p14:creationId xmlns:p14="http://schemas.microsoft.com/office/powerpoint/2010/main" val="927900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1E01C25-45ED-6CCD-8644-B58B93C206FE}"/>
              </a:ext>
            </a:extLst>
          </p:cNvPr>
          <p:cNvPicPr>
            <a:picLocks noChangeAspect="1"/>
          </p:cNvPicPr>
          <p:nvPr/>
        </p:nvPicPr>
        <p:blipFill>
          <a:blip r:embed="rId2"/>
          <a:stretch>
            <a:fillRect/>
          </a:stretch>
        </p:blipFill>
        <p:spPr>
          <a:xfrm>
            <a:off x="317241" y="349120"/>
            <a:ext cx="9246637" cy="4912276"/>
          </a:xfrm>
          <a:prstGeom prst="rect">
            <a:avLst/>
          </a:prstGeom>
        </p:spPr>
      </p:pic>
    </p:spTree>
    <p:extLst>
      <p:ext uri="{BB962C8B-B14F-4D97-AF65-F5344CB8AC3E}">
        <p14:creationId xmlns:p14="http://schemas.microsoft.com/office/powerpoint/2010/main" val="3625562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BDDA21A-3149-7D40-38E0-831C1B77ED89}"/>
              </a:ext>
            </a:extLst>
          </p:cNvPr>
          <p:cNvPicPr>
            <a:picLocks noChangeAspect="1"/>
          </p:cNvPicPr>
          <p:nvPr/>
        </p:nvPicPr>
        <p:blipFill>
          <a:blip r:embed="rId2"/>
          <a:stretch>
            <a:fillRect/>
          </a:stretch>
        </p:blipFill>
        <p:spPr>
          <a:xfrm>
            <a:off x="242596" y="377112"/>
            <a:ext cx="9547230" cy="5071966"/>
          </a:xfrm>
          <a:prstGeom prst="rect">
            <a:avLst/>
          </a:prstGeom>
        </p:spPr>
      </p:pic>
    </p:spTree>
    <p:extLst>
      <p:ext uri="{BB962C8B-B14F-4D97-AF65-F5344CB8AC3E}">
        <p14:creationId xmlns:p14="http://schemas.microsoft.com/office/powerpoint/2010/main" val="3114437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451183" y="595494"/>
            <a:ext cx="4735798" cy="441174"/>
          </a:xfrm>
        </p:spPr>
        <p:txBody>
          <a:bodyPr>
            <a:noAutofit/>
          </a:bodyPr>
          <a:lstStyle/>
          <a:p>
            <a:r>
              <a:rPr lang="en-IN" sz="2400" u="sng" dirty="0">
                <a:solidFill>
                  <a:srgbClr val="0070C0"/>
                </a:solidFill>
                <a:latin typeface="Calibri" panose="020F0502020204030204" pitchFamily="34" charset="0"/>
                <a:ea typeface="Calibri" panose="020F0502020204030204" pitchFamily="34" charset="0"/>
                <a:cs typeface="Calibri" panose="020F0502020204030204" pitchFamily="34"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BA2DE47B-77F6-0A41-DEC7-B30B587599FF}"/>
              </a:ext>
            </a:extLst>
          </p:cNvPr>
          <p:cNvSpPr txBox="1"/>
          <p:nvPr/>
        </p:nvSpPr>
        <p:spPr>
          <a:xfrm>
            <a:off x="290280" y="1393607"/>
            <a:ext cx="9793402" cy="4524315"/>
          </a:xfrm>
          <a:prstGeom prst="rect">
            <a:avLst/>
          </a:prstGeom>
          <a:noFill/>
        </p:spPr>
        <p:txBody>
          <a:bodyPr wrap="square" rtlCol="0">
            <a:spAutoFit/>
          </a:bodyPr>
          <a:lstStyle/>
          <a:p>
            <a:pPr lvl="0"/>
            <a:r>
              <a:rPr lang="en-IN" b="1" dirty="0">
                <a:latin typeface="Calibri" panose="020F0502020204030204" pitchFamily="34" charset="0"/>
                <a:ea typeface="Calibri" panose="020F0502020204030204" pitchFamily="34" charset="0"/>
                <a:cs typeface="Calibri" panose="020F0502020204030204" pitchFamily="34" charset="0"/>
              </a:rPr>
              <a:t>1. Predictive </a:t>
            </a:r>
            <a:r>
              <a:rPr lang="en-IN" b="1" dirty="0" err="1">
                <a:latin typeface="Calibri" panose="020F0502020204030204" pitchFamily="34" charset="0"/>
                <a:ea typeface="Calibri" panose="020F0502020204030204" pitchFamily="34" charset="0"/>
                <a:cs typeface="Calibri" panose="020F0502020204030204" pitchFamily="34" charset="0"/>
              </a:rPr>
              <a:t>Predictive</a:t>
            </a:r>
            <a:r>
              <a:rPr lang="en-IN" b="1" dirty="0">
                <a:latin typeface="Calibri" panose="020F0502020204030204" pitchFamily="34" charset="0"/>
                <a:ea typeface="Calibri" panose="020F0502020204030204" pitchFamily="34" charset="0"/>
                <a:cs typeface="Calibri" panose="020F0502020204030204" pitchFamily="34" charset="0"/>
              </a:rPr>
              <a:t> Analytics Implementation:</a:t>
            </a:r>
            <a:endParaRPr lang="en-IN" dirty="0">
              <a:latin typeface="Calibri" panose="020F0502020204030204" pitchFamily="34" charset="0"/>
              <a:ea typeface="Calibri" panose="020F0502020204030204" pitchFamily="34" charset="0"/>
              <a:cs typeface="Calibri" panose="020F0502020204030204" pitchFamily="34" charset="0"/>
            </a:endParaRPr>
          </a:p>
          <a:p>
            <a:pPr lvl="1"/>
            <a:r>
              <a:rPr lang="en-IN" dirty="0">
                <a:latin typeface="Calibri" panose="020F0502020204030204" pitchFamily="34" charset="0"/>
                <a:ea typeface="Calibri" panose="020F0502020204030204" pitchFamily="34" charset="0"/>
                <a:cs typeface="Calibri" panose="020F0502020204030204" pitchFamily="34" charset="0"/>
              </a:rPr>
              <a:t>Add advanced Machine Learning modules (e.g., Random Forest Regressors or </a:t>
            </a:r>
            <a:r>
              <a:rPr lang="en-IN" dirty="0" err="1">
                <a:latin typeface="Calibri" panose="020F0502020204030204" pitchFamily="34" charset="0"/>
                <a:ea typeface="Calibri" panose="020F0502020204030204" pitchFamily="34" charset="0"/>
                <a:cs typeface="Calibri" panose="020F0502020204030204" pitchFamily="34" charset="0"/>
              </a:rPr>
              <a:t>XGBoost</a:t>
            </a:r>
            <a:r>
              <a:rPr lang="en-IN" dirty="0">
                <a:latin typeface="Calibri" panose="020F0502020204030204" pitchFamily="34" charset="0"/>
                <a:ea typeface="Calibri" panose="020F0502020204030204" pitchFamily="34" charset="0"/>
                <a:cs typeface="Calibri" panose="020F0502020204030204" pitchFamily="34" charset="0"/>
              </a:rPr>
              <a:t> models) to predict yield directly based on real-time weather readings.</a:t>
            </a:r>
          </a:p>
          <a:p>
            <a:pPr lvl="1"/>
            <a:endParaRPr lang="en-IN" dirty="0">
              <a:latin typeface="Calibri" panose="020F0502020204030204" pitchFamily="34" charset="0"/>
              <a:ea typeface="Calibri" panose="020F0502020204030204" pitchFamily="34" charset="0"/>
              <a:cs typeface="Calibri" panose="020F0502020204030204" pitchFamily="34" charset="0"/>
            </a:endParaRPr>
          </a:p>
          <a:p>
            <a:pPr lvl="0"/>
            <a:r>
              <a:rPr lang="en-IN" b="1" dirty="0">
                <a:latin typeface="Calibri" panose="020F0502020204030204" pitchFamily="34" charset="0"/>
                <a:ea typeface="Calibri" panose="020F0502020204030204" pitchFamily="34" charset="0"/>
                <a:cs typeface="Calibri" panose="020F0502020204030204" pitchFamily="34" charset="0"/>
              </a:rPr>
              <a:t>2. Geospatial Mapping &amp; GIS Integration:</a:t>
            </a:r>
            <a:endParaRPr lang="en-IN" dirty="0">
              <a:latin typeface="Calibri" panose="020F0502020204030204" pitchFamily="34" charset="0"/>
              <a:ea typeface="Calibri" panose="020F0502020204030204" pitchFamily="34" charset="0"/>
              <a:cs typeface="Calibri" panose="020F0502020204030204" pitchFamily="34" charset="0"/>
            </a:endParaRPr>
          </a:p>
          <a:p>
            <a:pPr lvl="1"/>
            <a:r>
              <a:rPr lang="en-IN" dirty="0">
                <a:latin typeface="Calibri" panose="020F0502020204030204" pitchFamily="34" charset="0"/>
                <a:ea typeface="Calibri" panose="020F0502020204030204" pitchFamily="34" charset="0"/>
                <a:cs typeface="Calibri" panose="020F0502020204030204" pitchFamily="34" charset="0"/>
              </a:rPr>
              <a:t>Connect GIS and longitude coordinate records with </a:t>
            </a:r>
            <a:r>
              <a:rPr lang="en-IN" dirty="0" err="1">
                <a:latin typeface="Calibri" panose="020F0502020204030204" pitchFamily="34" charset="0"/>
                <a:ea typeface="Calibri" panose="020F0502020204030204" pitchFamily="34" charset="0"/>
                <a:cs typeface="Calibri" panose="020F0502020204030204" pitchFamily="34" charset="0"/>
              </a:rPr>
              <a:t>Geopandas</a:t>
            </a:r>
            <a:r>
              <a:rPr lang="en-IN" dirty="0">
                <a:latin typeface="Calibri" panose="020F0502020204030204" pitchFamily="34" charset="0"/>
                <a:ea typeface="Calibri" panose="020F0502020204030204" pitchFamily="34" charset="0"/>
                <a:cs typeface="Calibri" panose="020F0502020204030204" pitchFamily="34" charset="0"/>
              </a:rPr>
              <a:t> to build live geographic risk and production maps.</a:t>
            </a:r>
          </a:p>
          <a:p>
            <a:pPr lvl="1"/>
            <a:endParaRPr lang="en-IN" dirty="0">
              <a:latin typeface="Calibri" panose="020F0502020204030204" pitchFamily="34" charset="0"/>
              <a:ea typeface="Calibri" panose="020F0502020204030204" pitchFamily="34" charset="0"/>
              <a:cs typeface="Calibri" panose="020F0502020204030204" pitchFamily="34" charset="0"/>
            </a:endParaRPr>
          </a:p>
          <a:p>
            <a:pPr lvl="0"/>
            <a:r>
              <a:rPr lang="en-IN" b="1" dirty="0">
                <a:latin typeface="Calibri" panose="020F0502020204030204" pitchFamily="34" charset="0"/>
                <a:ea typeface="Calibri" panose="020F0502020204030204" pitchFamily="34" charset="0"/>
                <a:cs typeface="Calibri" panose="020F0502020204030204" pitchFamily="34" charset="0"/>
              </a:rPr>
              <a:t>3. Interactive Executive Dashboards:</a:t>
            </a:r>
            <a:endParaRPr lang="en-IN" dirty="0">
              <a:latin typeface="Calibri" panose="020F0502020204030204" pitchFamily="34" charset="0"/>
              <a:ea typeface="Calibri" panose="020F0502020204030204" pitchFamily="34" charset="0"/>
              <a:cs typeface="Calibri" panose="020F0502020204030204" pitchFamily="34" charset="0"/>
            </a:endParaRPr>
          </a:p>
          <a:p>
            <a:pPr lvl="1"/>
            <a:r>
              <a:rPr lang="en-IN" dirty="0">
                <a:latin typeface="Calibri" panose="020F0502020204030204" pitchFamily="34" charset="0"/>
                <a:ea typeface="Calibri" panose="020F0502020204030204" pitchFamily="34" charset="0"/>
                <a:cs typeface="Calibri" panose="020F0502020204030204" pitchFamily="34" charset="0"/>
              </a:rPr>
              <a:t>Port the core Python analytical functions into a live </a:t>
            </a:r>
            <a:r>
              <a:rPr lang="en-IN" dirty="0" err="1">
                <a:latin typeface="Calibri" panose="020F0502020204030204" pitchFamily="34" charset="0"/>
                <a:ea typeface="Calibri" panose="020F0502020204030204" pitchFamily="34" charset="0"/>
                <a:cs typeface="Calibri" panose="020F0502020204030204" pitchFamily="34" charset="0"/>
              </a:rPr>
              <a:t>Streamlit</a:t>
            </a:r>
            <a:r>
              <a:rPr lang="en-IN" dirty="0">
                <a:latin typeface="Calibri" panose="020F0502020204030204" pitchFamily="34" charset="0"/>
                <a:ea typeface="Calibri" panose="020F0502020204030204" pitchFamily="34" charset="0"/>
                <a:cs typeface="Calibri" panose="020F0502020204030204" pitchFamily="34" charset="0"/>
              </a:rPr>
              <a:t> or </a:t>
            </a:r>
            <a:r>
              <a:rPr lang="en-IN" dirty="0" err="1">
                <a:latin typeface="Calibri" panose="020F0502020204030204" pitchFamily="34" charset="0"/>
                <a:ea typeface="Calibri" panose="020F0502020204030204" pitchFamily="34" charset="0"/>
                <a:cs typeface="Calibri" panose="020F0502020204030204" pitchFamily="34" charset="0"/>
              </a:rPr>
              <a:t>Plotly</a:t>
            </a:r>
            <a:r>
              <a:rPr lang="en-IN" dirty="0">
                <a:latin typeface="Calibri" panose="020F0502020204030204" pitchFamily="34" charset="0"/>
                <a:ea typeface="Calibri" panose="020F0502020204030204" pitchFamily="34" charset="0"/>
                <a:cs typeface="Calibri" panose="020F0502020204030204" pitchFamily="34" charset="0"/>
              </a:rPr>
              <a:t> Dash interface for executive decision-making.</a:t>
            </a:r>
          </a:p>
          <a:p>
            <a:pPr lvl="1"/>
            <a:endParaRPr lang="en-IN" dirty="0">
              <a:latin typeface="Calibri" panose="020F0502020204030204" pitchFamily="34" charset="0"/>
              <a:ea typeface="Calibri" panose="020F0502020204030204" pitchFamily="34" charset="0"/>
              <a:cs typeface="Calibri" panose="020F0502020204030204" pitchFamily="34" charset="0"/>
            </a:endParaRPr>
          </a:p>
          <a:p>
            <a:pPr lvl="0"/>
            <a:r>
              <a:rPr lang="en-IN" b="1" dirty="0">
                <a:latin typeface="Calibri" panose="020F0502020204030204" pitchFamily="34" charset="0"/>
                <a:ea typeface="Calibri" panose="020F0502020204030204" pitchFamily="34" charset="0"/>
                <a:cs typeface="Calibri" panose="020F0502020204030204" pitchFamily="34" charset="0"/>
              </a:rPr>
              <a:t>4. Cost Optimization Engine:</a:t>
            </a:r>
            <a:endParaRPr lang="en-IN" dirty="0">
              <a:latin typeface="Calibri" panose="020F0502020204030204" pitchFamily="34" charset="0"/>
              <a:ea typeface="Calibri" panose="020F0502020204030204" pitchFamily="34" charset="0"/>
              <a:cs typeface="Calibri" panose="020F0502020204030204" pitchFamily="34" charset="0"/>
            </a:endParaRPr>
          </a:p>
          <a:p>
            <a:pPr lvl="1"/>
            <a:r>
              <a:rPr lang="en-IN" dirty="0">
                <a:latin typeface="Calibri" panose="020F0502020204030204" pitchFamily="34" charset="0"/>
                <a:ea typeface="Calibri" panose="020F0502020204030204" pitchFamily="34" charset="0"/>
                <a:cs typeface="Calibri" panose="020F0502020204030204" pitchFamily="34" charset="0"/>
              </a:rPr>
              <a:t>Build a mathematical solver script to recommend the exact minimum amount of fertilizer needed to maximize profit margins without harming soil health.</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451183" y="370589"/>
            <a:ext cx="4735798" cy="450505"/>
          </a:xfrm>
        </p:spPr>
        <p:txBody>
          <a:bodyPr>
            <a:normAutofit fontScale="90000"/>
          </a:bodyPr>
          <a:lstStyle/>
          <a:p>
            <a:r>
              <a:rPr lang="en-IN" sz="2400" u="sng" dirty="0">
                <a:solidFill>
                  <a:srgbClr val="0070C0"/>
                </a:solidFill>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https://github.com/AswiniKumar55/-Seasonal-Agriculture-Performance-Analysis-.git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solidFill>
                  <a:srgbClr val="0070C0"/>
                </a:solidFill>
                <a:latin typeface="Calibri" panose="020F0502020204030204" pitchFamily="34" charset="0"/>
                <a:ea typeface="Calibri" panose="020F0502020204030204" pitchFamily="34" charset="0"/>
                <a:cs typeface="Calibri" panose="020F0502020204030204" pitchFamily="34" charset="0"/>
              </a:rPr>
              <a:t>VOIS Course completion certificate - </a:t>
            </a:r>
            <a:br>
              <a:rPr lang="en-IN" sz="3200" dirty="0">
                <a:solidFill>
                  <a:srgbClr val="0070C0"/>
                </a:solidFill>
                <a:latin typeface="Calibri" panose="020F0502020204030204" pitchFamily="34" charset="0"/>
                <a:ea typeface="Calibri" panose="020F0502020204030204" pitchFamily="34" charset="0"/>
                <a:cs typeface="Calibri" panose="020F0502020204030204" pitchFamily="34" charset="0"/>
              </a:rPr>
            </a:br>
            <a:r>
              <a:rPr lang="en-IN" sz="3200" dirty="0">
                <a:solidFill>
                  <a:srgbClr val="0070C0"/>
                </a:solidFill>
                <a:latin typeface="Calibri" panose="020F0502020204030204" pitchFamily="34" charset="0"/>
                <a:ea typeface="Calibri" panose="020F0502020204030204" pitchFamily="34" charset="0"/>
                <a:cs typeface="Calibri" panose="020F0502020204030204" pitchFamily="34"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658CF9B-E49F-A5AA-3FA3-C6CD99E93B54}"/>
              </a:ext>
            </a:extLst>
          </p:cNvPr>
          <p:cNvPicPr>
            <a:picLocks noChangeAspect="1"/>
          </p:cNvPicPr>
          <p:nvPr/>
        </p:nvPicPr>
        <p:blipFill>
          <a:blip r:embed="rId3"/>
          <a:stretch>
            <a:fillRect/>
          </a:stretch>
        </p:blipFill>
        <p:spPr>
          <a:xfrm>
            <a:off x="891029" y="1454801"/>
            <a:ext cx="7385224" cy="522545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262180" y="2545370"/>
            <a:ext cx="7067328" cy="1108634"/>
          </a:xfrm>
          <a:prstGeom prst="rect">
            <a:avLst/>
          </a:prstGeom>
        </p:spPr>
        <p:txBody>
          <a:bodyPr anchor="ctr">
            <a:noAutofit/>
          </a:bodyPr>
          <a:lstStyle/>
          <a:p>
            <a:pPr algn="ctr"/>
            <a:r>
              <a:rPr lang="en-US" sz="6000" b="1" u="sng" dirty="0">
                <a:solidFill>
                  <a:srgbClr val="7030A0"/>
                </a:solidFill>
                <a:latin typeface="Calibri" panose="020F0502020204030204" pitchFamily="34" charset="0"/>
                <a:ea typeface="Calibri" panose="020F0502020204030204" pitchFamily="34" charset="0"/>
                <a:cs typeface="Calibri" panose="020F0502020204030204" pitchFamily="34"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1409</TotalTime>
  <Words>612</Words>
  <Application>Microsoft Office PowerPoint</Application>
  <PresentationFormat>Widescreen</PresentationFormat>
  <Paragraphs>59</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PowerPoint Presentation</vt:lpstr>
      <vt:lpstr>PowerPoint Presentation</vt:lpstr>
      <vt:lpstr>PowerPoint Presentation</vt:lpstr>
      <vt:lpstr>PowerPoint Presentation</vt:lpstr>
      <vt:lpstr>PowerPoint Presentation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Subodh Harkare</cp:lastModifiedBy>
  <cp:revision>99</cp:revision>
  <dcterms:created xsi:type="dcterms:W3CDTF">2021-07-11T13:13:15Z</dcterms:created>
  <dcterms:modified xsi:type="dcterms:W3CDTF">2026-09-10T06:03:18Z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